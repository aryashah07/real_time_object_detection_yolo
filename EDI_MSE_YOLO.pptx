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71" r:id="rId12"/>
    <p:sldId id="265" r:id="rId13"/>
    <p:sldId id="266" r:id="rId14"/>
    <p:sldId id="267" r:id="rId15"/>
    <p:sldId id="268" r:id="rId16"/>
    <p:sldId id="269" r:id="rId17"/>
    <p:sldId id="270" r:id="rId18"/>
  </p:sldIdLst>
  <p:sldSz cx="18288000" cy="10287000"/>
  <p:notesSz cx="6858000" cy="9144000"/>
  <p:embeddedFontLst>
    <p:embeddedFont>
      <p:font typeface="Helios" panose="020B0604020202020204" charset="0"/>
      <p:regular r:id="rId19"/>
    </p:embeddedFont>
    <p:embeddedFont>
      <p:font typeface="Helios Bold" panose="020B0604020202020204" charset="0"/>
      <p:regular r:id="rId20"/>
    </p:embeddedFont>
    <p:embeddedFont>
      <p:font typeface="Klein" panose="020B0604020202020204" charset="0"/>
      <p:regular r:id="rId21"/>
    </p:embeddedFont>
    <p:embeddedFont>
      <p:font typeface="Klein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79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66927" y="-4280359"/>
            <a:ext cx="10812392" cy="10812392"/>
          </a:xfrm>
          <a:custGeom>
            <a:avLst/>
            <a:gdLst/>
            <a:ahLst/>
            <a:cxnLst/>
            <a:rect l="l" t="t" r="r" b="b"/>
            <a:pathLst>
              <a:path w="10812392" h="10812392">
                <a:moveTo>
                  <a:pt x="0" y="0"/>
                </a:moveTo>
                <a:lnTo>
                  <a:pt x="10812393" y="0"/>
                </a:lnTo>
                <a:lnTo>
                  <a:pt x="10812393" y="10812392"/>
                </a:lnTo>
                <a:lnTo>
                  <a:pt x="0" y="108123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07200" y="4432068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3"/>
                </a:lnTo>
                <a:lnTo>
                  <a:pt x="0" y="57643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078" y="7902203"/>
            <a:ext cx="5764383" cy="5764383"/>
          </a:xfrm>
          <a:custGeom>
            <a:avLst/>
            <a:gdLst/>
            <a:ahLst/>
            <a:cxnLst/>
            <a:rect l="l" t="t" r="r" b="b"/>
            <a:pathLst>
              <a:path w="5764383" h="5764383">
                <a:moveTo>
                  <a:pt x="0" y="0"/>
                </a:moveTo>
                <a:lnTo>
                  <a:pt x="5764383" y="0"/>
                </a:lnTo>
                <a:lnTo>
                  <a:pt x="5764383" y="5764382"/>
                </a:lnTo>
                <a:lnTo>
                  <a:pt x="0" y="57643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5" name="Object 5"/>
          <p:cNvGraphicFramePr/>
          <p:nvPr/>
        </p:nvGraphicFramePr>
        <p:xfrm>
          <a:off x="8682271" y="5818403"/>
          <a:ext cx="7758112" cy="3895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296400" imgH="5448300" progId="Excel.Sheet.12">
                  <p:embed/>
                </p:oleObj>
              </mc:Choice>
              <mc:Fallback>
                <p:oleObj name="Worksheet" r:id="rId4" imgW="9296400" imgH="54483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82271" y="5818403"/>
                        <a:ext cx="7758112" cy="389505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reeform 6"/>
          <p:cNvSpPr/>
          <p:nvPr/>
        </p:nvSpPr>
        <p:spPr>
          <a:xfrm>
            <a:off x="2357183" y="-100911"/>
            <a:ext cx="2354058" cy="1639611"/>
          </a:xfrm>
          <a:custGeom>
            <a:avLst/>
            <a:gdLst/>
            <a:ahLst/>
            <a:cxnLst/>
            <a:rect l="l" t="t" r="r" b="b"/>
            <a:pathLst>
              <a:path w="2354058" h="1639611">
                <a:moveTo>
                  <a:pt x="0" y="0"/>
                </a:moveTo>
                <a:lnTo>
                  <a:pt x="2354058" y="0"/>
                </a:lnTo>
                <a:lnTo>
                  <a:pt x="2354058" y="1639611"/>
                </a:lnTo>
                <a:lnTo>
                  <a:pt x="0" y="16396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783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25030" y="3164475"/>
            <a:ext cx="10705434" cy="1743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0"/>
              </a:lnSpc>
            </a:pPr>
            <a:r>
              <a:rPr lang="en-US" sz="5700" b="1">
                <a:solidFill>
                  <a:srgbClr val="2A2E3A"/>
                </a:solidFill>
                <a:latin typeface="Klein Bold"/>
                <a:ea typeface="Klein Bold"/>
                <a:cs typeface="Klein Bold"/>
                <a:sym typeface="Klein Bold"/>
              </a:rPr>
              <a:t>Real-Timed Object Detection using </a:t>
            </a:r>
            <a:r>
              <a:rPr lang="en-US" sz="5700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YOLO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91230" y="161871"/>
            <a:ext cx="10705434" cy="621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9"/>
              </a:lnSpc>
              <a:spcBef>
                <a:spcPct val="0"/>
              </a:spcBef>
            </a:pPr>
            <a:r>
              <a:rPr lang="en-US" sz="3837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Vishwakarma Institute of Technology,Pune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2271" y="879151"/>
            <a:ext cx="7806986" cy="659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06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Department of Artificial Intelligence and Data Science</a:t>
            </a:r>
          </a:p>
          <a:p>
            <a:pPr algn="ctr">
              <a:lnSpc>
                <a:spcPts val="2687"/>
              </a:lnSpc>
              <a:spcBef>
                <a:spcPct val="0"/>
              </a:spcBef>
            </a:pPr>
            <a:r>
              <a:rPr lang="en-US" sz="2067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A.Y.(2025-2026) SEM 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3863" y="1995352"/>
            <a:ext cx="4200084" cy="441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5"/>
              </a:lnSpc>
              <a:spcBef>
                <a:spcPct val="0"/>
              </a:spcBef>
            </a:pPr>
            <a:r>
              <a:rPr lang="en-US" sz="2765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Division – </a:t>
            </a:r>
            <a:r>
              <a:rPr lang="en-US" sz="2765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AI&amp;DS 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941" y="3069233"/>
            <a:ext cx="3102197" cy="677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52"/>
              </a:lnSpc>
              <a:spcBef>
                <a:spcPct val="0"/>
              </a:spcBef>
            </a:pPr>
            <a:r>
              <a:rPr lang="en-US" sz="4117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GR_ID - 07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35214" y="1989432"/>
            <a:ext cx="3543742" cy="45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2769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Date – </a:t>
            </a:r>
            <a:r>
              <a:rPr lang="en-US" sz="2769" dirty="0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23/09/2025 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73700" y="6799707"/>
            <a:ext cx="6221462" cy="98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3"/>
              </a:lnSpc>
              <a:spcBef>
                <a:spcPct val="0"/>
              </a:spcBef>
            </a:pPr>
            <a:r>
              <a:rPr lang="en-US" sz="3018" b="1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Project Guide :</a:t>
            </a:r>
          </a:p>
          <a:p>
            <a:pPr algn="ctr">
              <a:lnSpc>
                <a:spcPts val="3793"/>
              </a:lnSpc>
              <a:spcBef>
                <a:spcPct val="0"/>
              </a:spcBef>
            </a:pPr>
            <a:r>
              <a:rPr lang="en-US" sz="2918">
                <a:solidFill>
                  <a:srgbClr val="000000"/>
                </a:solidFill>
                <a:latin typeface="Klein"/>
                <a:ea typeface="Klein"/>
                <a:cs typeface="Klein"/>
                <a:sym typeface="Klein"/>
              </a:rPr>
              <a:t>Prof. (Dr.) Minal Yadavrao Barhate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85738" y="5802074"/>
            <a:ext cx="2621756" cy="477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6"/>
              </a:lnSpc>
              <a:spcBef>
                <a:spcPct val="0"/>
              </a:spcBef>
            </a:pPr>
            <a:r>
              <a:rPr lang="en-US" sz="2912" b="1" dirty="0">
                <a:solidFill>
                  <a:srgbClr val="000000"/>
                </a:solidFill>
                <a:latin typeface="Klein Bold"/>
                <a:ea typeface="Klein Bold"/>
                <a:cs typeface="Klein Bold"/>
                <a:sym typeface="Klein Bold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39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3773114"/>
            <a:chOff x="0" y="0"/>
            <a:chExt cx="24384000" cy="503081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27933" b="41099"/>
            <a:stretch>
              <a:fillRect/>
            </a:stretch>
          </p:blipFill>
          <p:spPr>
            <a:xfrm>
              <a:off x="0" y="0"/>
              <a:ext cx="24384000" cy="503081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0" y="3773114"/>
            <a:ext cx="18288000" cy="6513886"/>
            <a:chOff x="0" y="0"/>
            <a:chExt cx="4816593" cy="17155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1715591"/>
            </a:xfrm>
            <a:custGeom>
              <a:avLst/>
              <a:gdLst/>
              <a:ahLst/>
              <a:cxnLst/>
              <a:rect l="l" t="t" r="r" b="b"/>
              <a:pathLst>
                <a:path w="4816592" h="1715591">
                  <a:moveTo>
                    <a:pt x="0" y="0"/>
                  </a:moveTo>
                  <a:lnTo>
                    <a:pt x="4816592" y="0"/>
                  </a:lnTo>
                  <a:lnTo>
                    <a:pt x="4816592" y="1715591"/>
                  </a:lnTo>
                  <a:lnTo>
                    <a:pt x="0" y="1715591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816593" cy="1782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2035380" y="4645343"/>
          <a:ext cx="7108619" cy="4157103"/>
        </p:xfrm>
        <a:graphic>
          <a:graphicData uri="http://schemas.openxmlformats.org/drawingml/2006/table">
            <a:tbl>
              <a:tblPr/>
              <a:tblGrid>
                <a:gridCol w="521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87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Abstract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Introduction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Literature Review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Motivation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Problem Statement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88471"/>
              </p:ext>
            </p:extLst>
          </p:nvPr>
        </p:nvGraphicFramePr>
        <p:xfrm>
          <a:off x="9647029" y="4645343"/>
          <a:ext cx="8243961" cy="4157103"/>
        </p:xfrm>
        <a:graphic>
          <a:graphicData uri="http://schemas.openxmlformats.org/drawingml/2006/table">
            <a:tbl>
              <a:tblPr/>
              <a:tblGrid>
                <a:gridCol w="7824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Objectives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F4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Methodology, System Architecture </a:t>
                      </a: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Domains, Technology, Tools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2373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Individual Responsibilities 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7611">
                <a:tc>
                  <a:txBody>
                    <a:bodyPr/>
                    <a:lstStyle/>
                    <a:p>
                      <a:pPr algn="l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Conclusion &amp; References</a:t>
                      </a:r>
                      <a:endParaRPr lang="en-US" sz="110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3919"/>
                        </a:lnSpc>
                        <a:defRPr/>
                      </a:pPr>
                      <a:endParaRPr lang="en-US" sz="1100" dirty="0"/>
                    </a:p>
                  </a:txBody>
                  <a:tcPr marL="152400" marR="152400" marT="152400" marB="152400" anchor="ctr">
                    <a:lnL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4639504" y="1391465"/>
            <a:ext cx="9008992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Agenda</a:t>
            </a:r>
          </a:p>
        </p:txBody>
      </p:sp>
      <p:sp>
        <p:nvSpPr>
          <p:cNvPr id="10" name="Freeform 10"/>
          <p:cNvSpPr/>
          <p:nvPr/>
        </p:nvSpPr>
        <p:spPr>
          <a:xfrm>
            <a:off x="8333203" y="-1109791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333203" y="967874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21467"/>
            <a:ext cx="18288000" cy="4157535"/>
            <a:chOff x="0" y="0"/>
            <a:chExt cx="4816593" cy="109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94988"/>
            </a:xfrm>
            <a:custGeom>
              <a:avLst/>
              <a:gdLst/>
              <a:ahLst/>
              <a:cxnLst/>
              <a:rect l="l" t="t" r="r" b="b"/>
              <a:pathLst>
                <a:path w="4816592" h="1094988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48268" y="1181100"/>
            <a:ext cx="139914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Abstract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691" y="4073978"/>
            <a:ext cx="15900618" cy="4480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This project focuses on developing a real-time object detection system using YOLO. Unlike traditional methods that struggle with speed and accuracy, YOLO performs detection in a single pass, enabling fast and reliable results. The system involves dataset collection, preprocessing, YOLO model training, optimization, and deployment using OpenCV. The outcome will be a high-performance detection model suitable for applications in surveillance, autonomous driving, and robotics.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18272" y="215303"/>
            <a:ext cx="9856393" cy="9856393"/>
            <a:chOff x="0" y="0"/>
            <a:chExt cx="13141858" cy="13141858"/>
          </a:xfrm>
        </p:grpSpPr>
        <p:sp>
          <p:nvSpPr>
            <p:cNvPr id="3" name="Freeform 3"/>
            <p:cNvSpPr/>
            <p:nvPr/>
          </p:nvSpPr>
          <p:spPr>
            <a:xfrm rot="-1200957">
              <a:off x="1444916" y="1444916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11122" y="1311122"/>
              <a:ext cx="10252025" cy="10252025"/>
            </a:xfrm>
            <a:custGeom>
              <a:avLst/>
              <a:gdLst/>
              <a:ahLst/>
              <a:cxnLst/>
              <a:rect l="l" t="t" r="r" b="b"/>
              <a:pathLst>
                <a:path w="10252025" h="10252025">
                  <a:moveTo>
                    <a:pt x="0" y="0"/>
                  </a:moveTo>
                  <a:lnTo>
                    <a:pt x="10252025" y="0"/>
                  </a:lnTo>
                  <a:lnTo>
                    <a:pt x="10252025" y="10252025"/>
                  </a:lnTo>
                  <a:lnTo>
                    <a:pt x="0" y="10252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0171944" y="1966426"/>
            <a:ext cx="6148356" cy="6354148"/>
            <a:chOff x="0" y="0"/>
            <a:chExt cx="6362700" cy="6575666"/>
          </a:xfrm>
        </p:grpSpPr>
        <p:sp>
          <p:nvSpPr>
            <p:cNvPr id="6" name="Freeform 6"/>
            <p:cNvSpPr/>
            <p:nvPr/>
          </p:nvSpPr>
          <p:spPr>
            <a:xfrm>
              <a:off x="6350" y="6350"/>
              <a:ext cx="6350013" cy="6562979"/>
            </a:xfrm>
            <a:custGeom>
              <a:avLst/>
              <a:gdLst/>
              <a:ahLst/>
              <a:cxnLst/>
              <a:rect l="l" t="t" r="r" b="b"/>
              <a:pathLst>
                <a:path w="6350013" h="6562979">
                  <a:moveTo>
                    <a:pt x="6350000" y="5480583"/>
                  </a:moveTo>
                  <a:cubicBezTo>
                    <a:pt x="6350000" y="6078372"/>
                    <a:pt x="5865419" y="6562979"/>
                    <a:pt x="5267617" y="6562979"/>
                  </a:cubicBezTo>
                  <a:lnTo>
                    <a:pt x="1082383" y="6562979"/>
                  </a:lnTo>
                  <a:cubicBezTo>
                    <a:pt x="484594" y="6562979"/>
                    <a:pt x="0" y="6078385"/>
                    <a:pt x="0" y="5480583"/>
                  </a:cubicBezTo>
                  <a:lnTo>
                    <a:pt x="0" y="1082383"/>
                  </a:lnTo>
                  <a:cubicBezTo>
                    <a:pt x="0" y="484594"/>
                    <a:pt x="484581" y="0"/>
                    <a:pt x="1082383" y="0"/>
                  </a:cubicBezTo>
                  <a:lnTo>
                    <a:pt x="5267630" y="0"/>
                  </a:lnTo>
                  <a:cubicBezTo>
                    <a:pt x="5865419" y="0"/>
                    <a:pt x="6350013" y="484594"/>
                    <a:pt x="6350013" y="1082383"/>
                  </a:cubicBezTo>
                  <a:lnTo>
                    <a:pt x="6350013" y="5480583"/>
                  </a:lnTo>
                  <a:close/>
                </a:path>
              </a:pathLst>
            </a:custGeom>
            <a:blipFill>
              <a:blip r:embed="rId4"/>
              <a:stretch>
                <a:fillRect t="-12312" b="-12312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028700" y="1124876"/>
            <a:ext cx="9492913" cy="7188835"/>
            <a:chOff x="0" y="0"/>
            <a:chExt cx="12657217" cy="9585113"/>
          </a:xfrm>
        </p:grpSpPr>
        <p:sp>
          <p:nvSpPr>
            <p:cNvPr id="8" name="TextBox 8"/>
            <p:cNvSpPr txBox="1"/>
            <p:nvPr/>
          </p:nvSpPr>
          <p:spPr>
            <a:xfrm>
              <a:off x="0" y="-76200"/>
              <a:ext cx="12657217" cy="1494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6999" b="1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Introduction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2108411"/>
              <a:ext cx="11427196" cy="74767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79" lvl="1" indent="-345439" algn="just">
                <a:lnSpc>
                  <a:spcPts val="4479"/>
                </a:lnSpc>
                <a:buFont typeface="Arial"/>
                <a:buChar char="•"/>
              </a:pPr>
              <a:r>
                <a:rPr lang="en-US" sz="3199" b="1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Object detection</a:t>
              </a: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- </a:t>
              </a: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identifying and locating objects in images/videos.</a:t>
              </a:r>
            </a:p>
            <a:p>
              <a:pPr marL="690879" lvl="1" indent="-345439" algn="just">
                <a:lnSpc>
                  <a:spcPts val="4479"/>
                </a:lnSpc>
                <a:buFont typeface="Arial"/>
                <a:buChar char="•"/>
              </a:pP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Real-time detection is essential for security, autonomous driving, robotics, and automation.</a:t>
              </a:r>
            </a:p>
            <a:p>
              <a:pPr marL="690879" lvl="1" indent="-345439" algn="just">
                <a:lnSpc>
                  <a:spcPts val="4479"/>
                </a:lnSpc>
                <a:buFont typeface="Arial"/>
                <a:buChar char="•"/>
              </a:pP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Traditional methods struggle with speed and accuracy.</a:t>
              </a:r>
            </a:p>
            <a:p>
              <a:pPr marL="690879" lvl="1" indent="-345439" algn="just">
                <a:lnSpc>
                  <a:spcPts val="4479"/>
                </a:lnSpc>
                <a:buFont typeface="Arial"/>
                <a:buChar char="•"/>
              </a:pPr>
              <a:r>
                <a:rPr lang="en-US" sz="3199" b="1" u="none">
                  <a:solidFill>
                    <a:srgbClr val="2A2E3A"/>
                  </a:solidFill>
                  <a:latin typeface="Helios Bold"/>
                  <a:ea typeface="Helios Bold"/>
                  <a:cs typeface="Helios Bold"/>
                  <a:sym typeface="Helios Bold"/>
                </a:rPr>
                <a:t>YOLO (You Only Look Once)</a:t>
              </a: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→ A deep learning approach that achieves fast and accurate real-time object detection.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340491"/>
            <a:chOff x="0" y="0"/>
            <a:chExt cx="4816593" cy="61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16426"/>
            </a:xfrm>
            <a:custGeom>
              <a:avLst/>
              <a:gdLst/>
              <a:ahLst/>
              <a:cxnLst/>
              <a:rect l="l" t="t" r="r" b="b"/>
              <a:pathLst>
                <a:path w="4816592" h="616426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340491"/>
            <a:chOff x="0" y="0"/>
            <a:chExt cx="24384000" cy="312065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45734" b="45734"/>
            <a:stretch>
              <a:fillRect/>
            </a:stretch>
          </p:blipFill>
          <p:spPr>
            <a:xfrm>
              <a:off x="0" y="0"/>
              <a:ext cx="24384000" cy="3120655"/>
            </a:xfrm>
            <a:prstGeom prst="rect">
              <a:avLst/>
            </a:prstGeom>
          </p:spPr>
        </p:pic>
      </p:grp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323537" y="2526240"/>
          <a:ext cx="17640925" cy="7086600"/>
        </p:xfrm>
        <a:graphic>
          <a:graphicData uri="http://schemas.openxmlformats.org/drawingml/2006/table">
            <a:tbl>
              <a:tblPr/>
              <a:tblGrid>
                <a:gridCol w="1214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5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2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65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Sr No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Title of the Paper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Year Of Publication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Author </a:t>
                      </a:r>
                    </a:p>
                    <a:p>
                      <a:pPr algn="ctr">
                        <a:lnSpc>
                          <a:spcPts val="2659"/>
                        </a:lnSpc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The YOLO Framework: A Comprehensive Review of Evolution, Applications, and Benchmarks in Object Detection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Momina Liaqat Ali &amp; Zhou Zhang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Survey of YOLO series up to YOLO-11: tracks architectural improvements, performance benchmarks, comparison across variants; covers applications &amp; challenges like small object detection and robustness.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Comparative Analysis of YOLO-Based Algorithms for Vehicle Detection in Aerial Imagery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Amin Dustali, Mahdi Hasanlou, Seyed Majid Azimi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Empirical comparison of YOLO-v8-n, YOLO-v9-t, YOLO-v10-n, YOLO-v11-n on aerial imagery (vehicle detection); metrics: inference time, average precision; also tested on embedded GPU (Jetson) in challenging conditions.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0"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DP-YOLO: A Lightweight Real-Time Detection Algorithm for Rail Fastener Defects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Lihua Chen, Qi Sun, Ziyang Han, Fengwen Zhai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Designed DP-YOLO from YOLOv5s with optimizations: Depthwise Separable Convolution Stage Partial (DSP), Position-Sensitive Channel Attention (PSCA), Ghost-C3 neck, loss function changes; improved mAP, reduced parameter count + compute cost.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8"/>
          <p:cNvSpPr txBox="1"/>
          <p:nvPr/>
        </p:nvSpPr>
        <p:spPr>
          <a:xfrm>
            <a:off x="3610463" y="562233"/>
            <a:ext cx="12063594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Literature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842224"/>
              </p:ext>
            </p:extLst>
          </p:nvPr>
        </p:nvGraphicFramePr>
        <p:xfrm>
          <a:off x="323537" y="1943100"/>
          <a:ext cx="17640925" cy="5190645"/>
        </p:xfrm>
        <a:graphic>
          <a:graphicData uri="http://schemas.openxmlformats.org/drawingml/2006/table">
            <a:tbl>
              <a:tblPr/>
              <a:tblGrid>
                <a:gridCol w="12146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1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05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36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48329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Sr No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Title of the Paper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Year Of Publication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Author </a:t>
                      </a:r>
                    </a:p>
                    <a:p>
                      <a:pPr algn="ctr">
                        <a:lnSpc>
                          <a:spcPts val="2800"/>
                        </a:lnSpc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 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Methodology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3987"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A Decade of You Only Look Once (YOLO) for Object Detection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Leo Thomas Ramos, Angel D. Sappa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Review over 10 years of YOLO: surveys architectural evolution, application domains, evaluation trends; also discusses ethical, deployment, and cross-domain concerns.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8329"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YOLOv5, YOLOv8 and YOLOv10: The Go-To Detectors for Real-Time Vision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Muhammad Hussain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800"/>
                        </a:lnSpc>
                        <a:defRPr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Comparative review of YOLOv5, v8, v10: architecture changes (backbones, anchor vs anchor-free, feature extraction), suitability for deployment on edge devices; trade-offs between complexity and speed.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21467"/>
            <a:ext cx="18288000" cy="4157535"/>
            <a:chOff x="0" y="0"/>
            <a:chExt cx="4816593" cy="109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94988"/>
            </a:xfrm>
            <a:custGeom>
              <a:avLst/>
              <a:gdLst/>
              <a:ahLst/>
              <a:cxnLst/>
              <a:rect l="l" t="t" r="r" b="b"/>
              <a:pathLst>
                <a:path w="4816592" h="1094988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48268" y="1181100"/>
            <a:ext cx="139914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 dirty="0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Motivation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691" y="3831356"/>
            <a:ext cx="15900618" cy="5765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923" lvl="1" indent="-390962" algn="just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Growing demand for real-time intelligent systems in surveillance, autonomous vehicles, and robotics.</a:t>
            </a:r>
          </a:p>
          <a:p>
            <a:pPr marL="781923" lvl="1" indent="-390962" algn="just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Traditional detection methods lack speed and accuracy needed for live applications.</a:t>
            </a:r>
          </a:p>
          <a:p>
            <a:pPr marL="781923" lvl="1" indent="-390962" algn="just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YOLO provides a solution with fast, reliable, and accurate object detection in real-world scenarios.</a:t>
            </a:r>
          </a:p>
          <a:p>
            <a:pPr marL="781923" lvl="1" indent="-390962" algn="just">
              <a:lnSpc>
                <a:spcPts val="5070"/>
              </a:lnSpc>
              <a:spcBef>
                <a:spcPct val="0"/>
              </a:spcBef>
              <a:buFont typeface="Arial"/>
              <a:buChar char="•"/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Motivated to build a system that can contribute to safety, automation, and advanced AI applications.</a:t>
            </a:r>
          </a:p>
          <a:p>
            <a:pPr algn="just">
              <a:lnSpc>
                <a:spcPts val="5070"/>
              </a:lnSpc>
              <a:spcBef>
                <a:spcPct val="0"/>
              </a:spcBef>
            </a:pPr>
            <a:endParaRPr lang="en-US" sz="3621">
              <a:solidFill>
                <a:srgbClr val="000000"/>
              </a:solidFill>
              <a:latin typeface="Helios"/>
              <a:ea typeface="Helios"/>
              <a:cs typeface="Helios"/>
              <a:sym typeface="Heli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3608707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32683" y="3785447"/>
            <a:ext cx="8311317" cy="6118323"/>
          </a:xfrm>
          <a:custGeom>
            <a:avLst/>
            <a:gdLst/>
            <a:ahLst/>
            <a:cxnLst/>
            <a:rect l="l" t="t" r="r" b="b"/>
            <a:pathLst>
              <a:path w="8311317" h="6118323">
                <a:moveTo>
                  <a:pt x="0" y="0"/>
                </a:moveTo>
                <a:lnTo>
                  <a:pt x="8311317" y="0"/>
                </a:lnTo>
                <a:lnTo>
                  <a:pt x="8311317" y="6118323"/>
                </a:lnTo>
                <a:lnTo>
                  <a:pt x="0" y="6118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43" t="-36776" r="-343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1392347"/>
            <a:ext cx="12063594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Problem Statement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74329" y="3966845"/>
            <a:ext cx="8378807" cy="6254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Object detection is a key task in computer vision (identifying &amp; locating objects in images/videos).</a:t>
            </a:r>
          </a:p>
          <a:p>
            <a:pPr algn="just">
              <a:lnSpc>
                <a:spcPts val="4155"/>
              </a:lnSpc>
              <a:spcBef>
                <a:spcPct val="0"/>
              </a:spcBef>
            </a:pPr>
            <a:endParaRPr lang="en-US" sz="2968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just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Traditional methods struggle with accuracy and real-time performance.</a:t>
            </a:r>
          </a:p>
          <a:p>
            <a:pPr algn="just">
              <a:lnSpc>
                <a:spcPts val="4155"/>
              </a:lnSpc>
              <a:spcBef>
                <a:spcPct val="0"/>
              </a:spcBef>
            </a:pPr>
            <a:endParaRPr lang="en-US" sz="2968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just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Need for a system that balances speed + accuracy in live video streams.</a:t>
            </a:r>
          </a:p>
          <a:p>
            <a:pPr algn="just">
              <a:lnSpc>
                <a:spcPts val="4155"/>
              </a:lnSpc>
              <a:spcBef>
                <a:spcPct val="0"/>
              </a:spcBef>
            </a:pPr>
            <a:endParaRPr lang="en-US" sz="2968">
              <a:solidFill>
                <a:srgbClr val="2A2E3A"/>
              </a:solidFill>
              <a:latin typeface="Helios"/>
              <a:ea typeface="Helios"/>
              <a:cs typeface="Helios"/>
              <a:sym typeface="Helios"/>
            </a:endParaRPr>
          </a:p>
          <a:p>
            <a:pPr algn="just">
              <a:lnSpc>
                <a:spcPts val="4155"/>
              </a:lnSpc>
              <a:spcBef>
                <a:spcPct val="0"/>
              </a:spcBef>
            </a:pPr>
            <a:r>
              <a:rPr lang="en-US" sz="2968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YOLO (You Only Look Once) provides fast and accurate detection, enabling applications in surveillance, autonomous driving, and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0371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926061" y="4122456"/>
            <a:ext cx="2080186" cy="208018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01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619223" y="1027112"/>
            <a:ext cx="13049553" cy="1789453"/>
            <a:chOff x="0" y="0"/>
            <a:chExt cx="17399404" cy="2385937"/>
          </a:xfrm>
        </p:grpSpPr>
        <p:sp>
          <p:nvSpPr>
            <p:cNvPr id="7" name="TextBox 7"/>
            <p:cNvSpPr txBox="1"/>
            <p:nvPr/>
          </p:nvSpPr>
          <p:spPr>
            <a:xfrm>
              <a:off x="0" y="-76200"/>
              <a:ext cx="17399404" cy="14943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099"/>
                </a:lnSpc>
              </a:pPr>
              <a:r>
                <a:rPr lang="en-US" sz="6999" b="1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Objectives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5432" y="1678335"/>
              <a:ext cx="15708540" cy="7076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79"/>
                </a:lnSpc>
              </a:pPr>
              <a:r>
                <a:rPr lang="en-US" sz="31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G</a:t>
              </a:r>
              <a:r>
                <a:rPr lang="en-US" sz="31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oals of the Project</a:t>
              </a:r>
            </a:p>
          </p:txBody>
        </p:sp>
      </p:grpSp>
      <p:sp>
        <p:nvSpPr>
          <p:cNvPr id="9" name="AutoShape 9"/>
          <p:cNvSpPr/>
          <p:nvPr/>
        </p:nvSpPr>
        <p:spPr>
          <a:xfrm>
            <a:off x="4231936" y="5143500"/>
            <a:ext cx="1586999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028700" y="6667834"/>
            <a:ext cx="3874907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Collec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 and preprocess image/video datasets containing various object classes.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47264" y="6667834"/>
            <a:ext cx="3874907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 Impl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ement and train a YOLO-based model for real-time object detection.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5818935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6" y="0"/>
                </a:lnTo>
                <a:lnTo>
                  <a:pt x="2531566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6044625" y="4122456"/>
            <a:ext cx="2080186" cy="208018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02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8350443" y="5153024"/>
            <a:ext cx="1587113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9265828" y="6667834"/>
            <a:ext cx="3874907" cy="2286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Op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timize the model for speed and accuracy also Test and evaluate performance using precision, recall, and mAP</a:t>
            </a:r>
          </a:p>
        </p:txBody>
      </p:sp>
      <p:sp>
        <p:nvSpPr>
          <p:cNvPr id="18" name="Freeform 18"/>
          <p:cNvSpPr/>
          <p:nvPr/>
        </p:nvSpPr>
        <p:spPr>
          <a:xfrm>
            <a:off x="9937499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6" y="0"/>
                </a:lnTo>
                <a:lnTo>
                  <a:pt x="2531566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0163189" y="4122456"/>
            <a:ext cx="2080186" cy="208018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03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12469065" y="5143500"/>
            <a:ext cx="1586999" cy="3810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13384393" y="6667834"/>
            <a:ext cx="3874907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Deploy the sys</a:t>
            </a:r>
            <a:r>
              <a:rPr lang="en-US" sz="2599" u="none">
                <a:solidFill>
                  <a:srgbClr val="2A2E3A"/>
                </a:solidFill>
                <a:latin typeface="Helios"/>
                <a:ea typeface="Helios"/>
                <a:cs typeface="Helios"/>
                <a:sym typeface="Helios"/>
              </a:rPr>
              <a:t>tem as a real-time application using a webcam or video stream.</a:t>
            </a:r>
          </a:p>
        </p:txBody>
      </p:sp>
      <p:sp>
        <p:nvSpPr>
          <p:cNvPr id="24" name="Freeform 24"/>
          <p:cNvSpPr/>
          <p:nvPr/>
        </p:nvSpPr>
        <p:spPr>
          <a:xfrm>
            <a:off x="14056064" y="3896767"/>
            <a:ext cx="2531565" cy="2531565"/>
          </a:xfrm>
          <a:custGeom>
            <a:avLst/>
            <a:gdLst/>
            <a:ahLst/>
            <a:cxnLst/>
            <a:rect l="l" t="t" r="r" b="b"/>
            <a:pathLst>
              <a:path w="2531565" h="2531565">
                <a:moveTo>
                  <a:pt x="0" y="0"/>
                </a:moveTo>
                <a:lnTo>
                  <a:pt x="2531565" y="0"/>
                </a:lnTo>
                <a:lnTo>
                  <a:pt x="2531565" y="2531565"/>
                </a:lnTo>
                <a:lnTo>
                  <a:pt x="0" y="25315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4281753" y="4122456"/>
            <a:ext cx="2080186" cy="208018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47130" y="47130"/>
              <a:ext cx="718541" cy="718541"/>
            </a:xfrm>
            <a:custGeom>
              <a:avLst/>
              <a:gdLst/>
              <a:ahLst/>
              <a:cxnLst/>
              <a:rect l="l" t="t" r="r" b="b"/>
              <a:pathLst>
                <a:path w="718541" h="718541">
                  <a:moveTo>
                    <a:pt x="464537" y="58137"/>
                  </a:moveTo>
                  <a:lnTo>
                    <a:pt x="660403" y="254003"/>
                  </a:lnTo>
                  <a:cubicBezTo>
                    <a:pt x="718540" y="312140"/>
                    <a:pt x="718540" y="406400"/>
                    <a:pt x="660403" y="464537"/>
                  </a:cubicBezTo>
                  <a:lnTo>
                    <a:pt x="464537" y="660403"/>
                  </a:lnTo>
                  <a:cubicBezTo>
                    <a:pt x="406400" y="718540"/>
                    <a:pt x="312140" y="718540"/>
                    <a:pt x="254003" y="660403"/>
                  </a:cubicBezTo>
                  <a:lnTo>
                    <a:pt x="58137" y="464537"/>
                  </a:lnTo>
                  <a:cubicBezTo>
                    <a:pt x="0" y="406400"/>
                    <a:pt x="0" y="312140"/>
                    <a:pt x="58137" y="254003"/>
                  </a:cubicBezTo>
                  <a:lnTo>
                    <a:pt x="254003" y="58137"/>
                  </a:lnTo>
                  <a:cubicBezTo>
                    <a:pt x="312140" y="0"/>
                    <a:pt x="406400" y="0"/>
                    <a:pt x="464537" y="58137"/>
                  </a:cubicBez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39700" y="73025"/>
              <a:ext cx="533400" cy="600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999" b="1">
                  <a:solidFill>
                    <a:srgbClr val="FFFFFF"/>
                  </a:solidFill>
                  <a:latin typeface="Klein Bold"/>
                  <a:ea typeface="Klein Bold"/>
                  <a:cs typeface="Klein Bold"/>
                  <a:sym typeface="Klein Bold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0" y="9125919"/>
            <a:ext cx="18288000" cy="1161081"/>
            <a:chOff x="0" y="0"/>
            <a:chExt cx="4816593" cy="30579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16592" cy="305799"/>
            </a:xfrm>
            <a:custGeom>
              <a:avLst/>
              <a:gdLst/>
              <a:ahLst/>
              <a:cxnLst/>
              <a:rect l="l" t="t" r="r" b="b"/>
              <a:pathLst>
                <a:path w="4816592" h="305799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343B3-6CE2-D579-4873-37E81219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512544C-4CD1-034E-C303-8BE8F0878C39}"/>
              </a:ext>
            </a:extLst>
          </p:cNvPr>
          <p:cNvGrpSpPr/>
          <p:nvPr/>
        </p:nvGrpSpPr>
        <p:grpSpPr>
          <a:xfrm>
            <a:off x="1028700" y="1067726"/>
            <a:ext cx="9856392" cy="7361178"/>
            <a:chOff x="0" y="-76200"/>
            <a:chExt cx="13141856" cy="9814901"/>
          </a:xfrm>
        </p:grpSpPr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A0B0BDD-E135-2E97-71E4-5440AC5B285E}"/>
                </a:ext>
              </a:extLst>
            </p:cNvPr>
            <p:cNvSpPr txBox="1"/>
            <p:nvPr/>
          </p:nvSpPr>
          <p:spPr>
            <a:xfrm>
              <a:off x="0" y="-76200"/>
              <a:ext cx="13141856" cy="161839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99"/>
                </a:lnSpc>
              </a:pPr>
              <a:r>
                <a:rPr lang="en-US" sz="8000" b="1" dirty="0">
                  <a:solidFill>
                    <a:srgbClr val="2A2E3A"/>
                  </a:solidFill>
                  <a:latin typeface="Klein Bold"/>
                  <a:ea typeface="Klein Bold"/>
                  <a:cs typeface="Klein Bold"/>
                  <a:sym typeface="Klein Bold"/>
                </a:rPr>
                <a:t>What is </a:t>
              </a:r>
              <a:r>
                <a:rPr lang="en-US" sz="8000" b="1" dirty="0">
                  <a:solidFill>
                    <a:srgbClr val="002060"/>
                  </a:solidFill>
                  <a:latin typeface="Klein Bold"/>
                  <a:ea typeface="Klein Bold"/>
                  <a:cs typeface="Klein Bold"/>
                  <a:sym typeface="Klein Bold"/>
                </a:rPr>
                <a:t>YOLO ?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AA61200-6561-C779-391F-AF7420E155B4}"/>
                </a:ext>
              </a:extLst>
            </p:cNvPr>
            <p:cNvSpPr txBox="1"/>
            <p:nvPr/>
          </p:nvSpPr>
          <p:spPr>
            <a:xfrm>
              <a:off x="0" y="2108410"/>
              <a:ext cx="11427196" cy="76302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45440" lvl="1" algn="just">
                <a:lnSpc>
                  <a:spcPts val="4479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YOLO (You Only Look Once)</a:t>
              </a: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is a state-of-the-art, real-time object detection system.</a:t>
              </a:r>
            </a:p>
            <a:p>
              <a:pPr marL="345440" lvl="1" algn="just">
                <a:lnSpc>
                  <a:spcPts val="4479"/>
                </a:lnSpc>
              </a:pP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345440" lvl="1" algn="just">
                <a:lnSpc>
                  <a:spcPts val="4479"/>
                </a:lnSpc>
              </a:pPr>
              <a:r>
                <a: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Key Points:</a:t>
              </a:r>
            </a:p>
            <a:p>
              <a:pPr marL="802640" lvl="1" indent="-457200" algn="just">
                <a:lnSpc>
                  <a:spcPts val="4479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YOLO treats object detection as a single regression problem.</a:t>
              </a:r>
            </a:p>
            <a:p>
              <a:pPr marL="802640" lvl="1" indent="-457200" algn="just">
                <a:lnSpc>
                  <a:spcPts val="4479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It divides the image into a grid and directly predicts bounding boxes &amp; class probabilities.</a:t>
              </a:r>
            </a:p>
            <a:p>
              <a:pPr marL="802640" lvl="1" indent="-457200" algn="just">
                <a:lnSpc>
                  <a:spcPts val="4479"/>
                </a:lnSpc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Popular for real-time applications (e.g., surveillance, autonomous driving).</a:t>
              </a:r>
            </a:p>
          </p:txBody>
        </p:sp>
      </p:grpSp>
      <p:pic>
        <p:nvPicPr>
          <p:cNvPr id="2052" name="Picture 4" descr="Object Detection: The YOLO Algorithm in ...">
            <a:extLst>
              <a:ext uri="{FF2B5EF4-FFF2-40B4-BE49-F238E27FC236}">
                <a16:creationId xmlns:a16="http://schemas.microsoft.com/office/drawing/2014/main" id="{8721580B-9FF1-2618-AE32-9D3CABC40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4600" y="3043318"/>
            <a:ext cx="7620001" cy="5637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360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4C42A-D0CA-BAD4-DF49-987AB5D27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456A4C-8C77-ACAA-2827-753CC7757799}"/>
              </a:ext>
            </a:extLst>
          </p:cNvPr>
          <p:cNvSpPr/>
          <p:nvPr/>
        </p:nvSpPr>
        <p:spPr>
          <a:xfrm>
            <a:off x="0" y="1"/>
            <a:ext cx="18288000" cy="1378743"/>
          </a:xfrm>
          <a:custGeom>
            <a:avLst/>
            <a:gdLst/>
            <a:ahLst/>
            <a:cxnLst/>
            <a:rect l="l" t="t" r="r" b="b"/>
            <a:pathLst>
              <a:path w="18288000" h="3608707">
                <a:moveTo>
                  <a:pt x="0" y="0"/>
                </a:moveTo>
                <a:lnTo>
                  <a:pt x="18288000" y="0"/>
                </a:lnTo>
                <a:lnTo>
                  <a:pt x="18288000" y="3608707"/>
                </a:lnTo>
                <a:lnTo>
                  <a:pt x="0" y="3608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84715"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A883B3F-531E-0236-CE68-7171DAF972C1}"/>
              </a:ext>
            </a:extLst>
          </p:cNvPr>
          <p:cNvSpPr txBox="1"/>
          <p:nvPr/>
        </p:nvSpPr>
        <p:spPr>
          <a:xfrm>
            <a:off x="832683" y="119459"/>
            <a:ext cx="12063594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 dirty="0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System Architecture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28963D3-2138-524D-D0E0-A46A25008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637" y="1259284"/>
            <a:ext cx="15866725" cy="8908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2523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25919"/>
            <a:ext cx="18288000" cy="1161081"/>
            <a:chOff x="0" y="0"/>
            <a:chExt cx="4816593" cy="3057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305799"/>
            </a:xfrm>
            <a:custGeom>
              <a:avLst/>
              <a:gdLst/>
              <a:ahLst/>
              <a:cxnLst/>
              <a:rect l="l" t="t" r="r" b="b"/>
              <a:pathLst>
                <a:path w="4816592" h="305799">
                  <a:moveTo>
                    <a:pt x="0" y="0"/>
                  </a:moveTo>
                  <a:lnTo>
                    <a:pt x="4816592" y="0"/>
                  </a:lnTo>
                  <a:lnTo>
                    <a:pt x="4816592" y="305799"/>
                  </a:lnTo>
                  <a:lnTo>
                    <a:pt x="0" y="305799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438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619223" y="950912"/>
            <a:ext cx="1304955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Methodology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424588" y="2417147"/>
          <a:ext cx="17438823" cy="6708771"/>
        </p:xfrm>
        <a:graphic>
          <a:graphicData uri="http://schemas.openxmlformats.org/drawingml/2006/table">
            <a:tbl>
              <a:tblPr/>
              <a:tblGrid>
                <a:gridCol w="5236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01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613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Data Collection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Use datasets like COCO, Pascal VOC, or custom datasets.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3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Preprocessing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Perform image resizing, annotation formatting, and data augmentation.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3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Model Development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Implement YOLOv5/YOLOv8 using </a:t>
                      </a:r>
                      <a:r>
                        <a:rPr lang="en-US" sz="2799" dirty="0" err="1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PyTorch</a:t>
                      </a: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 framework.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216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 dirty="0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Training &amp; Testing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Train on GPU-enabled systems, fine-tune hyperparameters, and validate results.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13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Evaluation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Measure performance using Precision, Recall, F1-score, and </a:t>
                      </a:r>
                      <a:r>
                        <a:rPr lang="en-US" sz="2799" dirty="0" err="1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mAP</a:t>
                      </a: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61321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2A2E3A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Deployment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0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F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dirty="0">
                          <a:solidFill>
                            <a:srgbClr val="2A2E3A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Integrate with OpenCV for real-time detection on webcam/video streams.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2E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00262" y="2535487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508998" y="6276492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3"/>
                </a:lnTo>
                <a:lnTo>
                  <a:pt x="0" y="16215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959784" y="5858510"/>
            <a:ext cx="5585113" cy="2334367"/>
            <a:chOff x="0" y="0"/>
            <a:chExt cx="7446817" cy="3112490"/>
          </a:xfrm>
        </p:grpSpPr>
        <p:sp>
          <p:nvSpPr>
            <p:cNvPr id="5" name="TextBox 5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Tool</a:t>
              </a:r>
              <a:r>
                <a:rPr lang="en-US" sz="3799" b="1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305068"/>
              <a:ext cx="7446817" cy="18074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Py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thon, OpenCV, LabelImg, Jupyter Notebook/Google Colab , GPU-enabled systems.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9411059" cy="10287000"/>
            <a:chOff x="0" y="0"/>
            <a:chExt cx="2478633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78633" cy="2709333"/>
            </a:xfrm>
            <a:custGeom>
              <a:avLst/>
              <a:gdLst/>
              <a:ahLst/>
              <a:cxnLst/>
              <a:rect l="l" t="t" r="r" b="b"/>
              <a:pathLst>
                <a:path w="2478633" h="2709333">
                  <a:moveTo>
                    <a:pt x="0" y="0"/>
                  </a:moveTo>
                  <a:lnTo>
                    <a:pt x="2478633" y="0"/>
                  </a:lnTo>
                  <a:lnTo>
                    <a:pt x="24786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7863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32093" y="4126866"/>
            <a:ext cx="6746873" cy="2017394"/>
            <a:chOff x="0" y="0"/>
            <a:chExt cx="8995831" cy="268985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47625"/>
              <a:ext cx="8995831" cy="8561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200"/>
                </a:lnSpc>
              </a:pPr>
              <a:r>
                <a:rPr lang="en-US" sz="4000" b="1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Domain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492037"/>
              <a:ext cx="7058405" cy="1197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</a:pPr>
              <a:r>
                <a:rPr lang="en-US" sz="2600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AI, ML,</a:t>
              </a:r>
              <a:r>
                <a:rPr lang="en-US" sz="2600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 DL, Computer Vision, Image Processing, Edge AI, Robotics.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59784" y="2346105"/>
            <a:ext cx="5585113" cy="1877167"/>
            <a:chOff x="0" y="0"/>
            <a:chExt cx="7446817" cy="250289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0"/>
              <a:ext cx="7446817" cy="762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Technolog</a:t>
              </a:r>
              <a:r>
                <a:rPr lang="en-US" sz="3799" b="1" u="none">
                  <a:solidFill>
                    <a:srgbClr val="718BAB"/>
                  </a:solidFill>
                  <a:latin typeface="Klein Bold"/>
                  <a:ea typeface="Klein Bold"/>
                  <a:cs typeface="Klein Bold"/>
                  <a:sym typeface="Klein Bold"/>
                </a:rPr>
                <a:t>ies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305068"/>
              <a:ext cx="7446817" cy="11978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YOLOv5/YOLOv8, D</a:t>
              </a:r>
              <a:r>
                <a:rPr lang="en-US" sz="2599" u="none">
                  <a:solidFill>
                    <a:srgbClr val="2A2E3A"/>
                  </a:solidFill>
                  <a:latin typeface="Helios"/>
                  <a:ea typeface="Helios"/>
                  <a:cs typeface="Helios"/>
                  <a:sym typeface="Helios"/>
                </a:rPr>
                <a:t>eep Learning, PyTorch.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-810797" y="4332703"/>
            <a:ext cx="1621594" cy="1621594"/>
          </a:xfrm>
          <a:custGeom>
            <a:avLst/>
            <a:gdLst/>
            <a:ahLst/>
            <a:cxnLst/>
            <a:rect l="l" t="t" r="r" b="b"/>
            <a:pathLst>
              <a:path w="1621594" h="1621594">
                <a:moveTo>
                  <a:pt x="0" y="0"/>
                </a:moveTo>
                <a:lnTo>
                  <a:pt x="1621594" y="0"/>
                </a:lnTo>
                <a:lnTo>
                  <a:pt x="1621594" y="1621594"/>
                </a:lnTo>
                <a:lnTo>
                  <a:pt x="0" y="162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507438" y="-2845897"/>
            <a:ext cx="15978794" cy="15978794"/>
          </a:xfrm>
          <a:custGeom>
            <a:avLst/>
            <a:gdLst/>
            <a:ahLst/>
            <a:cxnLst/>
            <a:rect l="l" t="t" r="r" b="b"/>
            <a:pathLst>
              <a:path w="15978794" h="15978794">
                <a:moveTo>
                  <a:pt x="0" y="0"/>
                </a:moveTo>
                <a:lnTo>
                  <a:pt x="15978795" y="0"/>
                </a:lnTo>
                <a:lnTo>
                  <a:pt x="15978795" y="15978794"/>
                </a:lnTo>
                <a:lnTo>
                  <a:pt x="0" y="1597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9471357" y="2538412"/>
          <a:ext cx="7946761" cy="5629276"/>
        </p:xfrm>
        <a:graphic>
          <a:graphicData uri="http://schemas.openxmlformats.org/drawingml/2006/table">
            <a:tbl>
              <a:tblPr/>
              <a:tblGrid>
                <a:gridCol w="27122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34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186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Roll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Helios Bold"/>
                          <a:ea typeface="Helios Bold"/>
                          <a:cs typeface="Helios Bold"/>
                          <a:sym typeface="Helios Bold"/>
                        </a:rPr>
                        <a:t>Responsibility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0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Data Collection &amp; Preprocessing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0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59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Model Development (YOLO setup)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30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Training &amp; Hyperparameter Tuning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092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Evaluation &amp; Performance Analysis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5047"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70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Helios"/>
                          <a:ea typeface="Helios"/>
                          <a:cs typeface="Helios"/>
                          <a:sym typeface="Helios"/>
                        </a:rPr>
                        <a:t> Deployment (OpenCV integration, live detection)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1009650" y="3691602"/>
            <a:ext cx="7973592" cy="2292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INDIVIDUAL RESPONSIBILITIES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821467"/>
            <a:ext cx="18288000" cy="4157535"/>
            <a:chOff x="0" y="0"/>
            <a:chExt cx="4816593" cy="10949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1094988"/>
            </a:xfrm>
            <a:custGeom>
              <a:avLst/>
              <a:gdLst/>
              <a:ahLst/>
              <a:cxnLst/>
              <a:rect l="l" t="t" r="r" b="b"/>
              <a:pathLst>
                <a:path w="4816592" h="1094988">
                  <a:moveTo>
                    <a:pt x="0" y="0"/>
                  </a:moveTo>
                  <a:lnTo>
                    <a:pt x="4816592" y="0"/>
                  </a:lnTo>
                  <a:lnTo>
                    <a:pt x="4816592" y="1094988"/>
                  </a:lnTo>
                  <a:lnTo>
                    <a:pt x="0" y="1094988"/>
                  </a:ln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11330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48268" y="1181100"/>
            <a:ext cx="139914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718BAB"/>
                </a:solidFill>
                <a:latin typeface="Klein Bold"/>
                <a:ea typeface="Klein Bold"/>
                <a:cs typeface="Klein Bold"/>
                <a:sym typeface="Klein Bold"/>
              </a:rPr>
              <a:t>Conclusion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93691" y="4273811"/>
            <a:ext cx="15900618" cy="319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70"/>
              </a:lnSpc>
              <a:spcBef>
                <a:spcPct val="0"/>
              </a:spcBef>
            </a:pPr>
            <a:r>
              <a:rPr lang="en-US" sz="3621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This project will implement a YOLO-based real-time object detection system capable of identifying and locating multiple objects within a video stream with high accuracy. It will enable applications in areas such as security, autonomous vehicles, and industrial automation, where rapid and reliable detection is essential.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340491"/>
            <a:chOff x="0" y="0"/>
            <a:chExt cx="4816593" cy="6164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16426"/>
            </a:xfrm>
            <a:custGeom>
              <a:avLst/>
              <a:gdLst/>
              <a:ahLst/>
              <a:cxnLst/>
              <a:rect l="l" t="t" r="r" b="b"/>
              <a:pathLst>
                <a:path w="4816592" h="616426">
                  <a:moveTo>
                    <a:pt x="0" y="0"/>
                  </a:moveTo>
                  <a:lnTo>
                    <a:pt x="4816592" y="0"/>
                  </a:lnTo>
                  <a:lnTo>
                    <a:pt x="4816592" y="616426"/>
                  </a:lnTo>
                  <a:lnTo>
                    <a:pt x="0" y="616426"/>
                  </a:lnTo>
                  <a:close/>
                </a:path>
              </a:pathLst>
            </a:custGeom>
            <a:solidFill>
              <a:srgbClr val="153969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4816593" cy="6831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8288000" cy="2340491"/>
            <a:chOff x="0" y="0"/>
            <a:chExt cx="24384000" cy="312065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alphaModFix amt="14000"/>
            </a:blip>
            <a:srcRect t="45734" b="45734"/>
            <a:stretch>
              <a:fillRect/>
            </a:stretch>
          </p:blipFill>
          <p:spPr>
            <a:xfrm>
              <a:off x="0" y="0"/>
              <a:ext cx="24384000" cy="3120655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3610463" y="562233"/>
            <a:ext cx="12063594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sz="6999" b="1">
                <a:solidFill>
                  <a:srgbClr val="FFFFFF"/>
                </a:solidFill>
                <a:latin typeface="Klein Bold"/>
                <a:ea typeface="Klein Bold"/>
                <a:cs typeface="Klein Bold"/>
                <a:sym typeface="Klein Bold"/>
              </a:rPr>
              <a:t>References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76564" y="2764817"/>
            <a:ext cx="15131391" cy="6204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Roboflow. Microsoft COCO Dataset on Roboflow Universe. Available at: https://universe.roboflow.com/microsoft/coco</a:t>
            </a:r>
          </a:p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Ultralytics. YOLOv8 Documentation. Available at: https://docs.ultralytics.com/models/yolov8/</a:t>
            </a:r>
          </a:p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Roboflow Blog. YOLO Object Detection Explained. Available at: https://blog.roboflow.com/yolo-object-detection/</a:t>
            </a:r>
          </a:p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OpenCV.ai Blog. YOLO Unraveled: A Clear Guide. Available at: https://www.opencv.ai/blog/yolo-unraveled-a-clear-guide</a:t>
            </a:r>
          </a:p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Neptune.ai. Object Detection with YOLO: Hands-on Tutorial. Available at: https://neptune.ai/blog/object-detection-with-yolo-hands-on-tutorial</a:t>
            </a:r>
          </a:p>
          <a:p>
            <a:pPr marL="696800" lvl="1" indent="-348400" algn="l">
              <a:lnSpc>
                <a:spcPts val="4518"/>
              </a:lnSpc>
              <a:buFont typeface="Arial"/>
              <a:buChar char="•"/>
            </a:pPr>
            <a:r>
              <a:rPr lang="en-US" sz="3227">
                <a:solidFill>
                  <a:srgbClr val="000000"/>
                </a:solidFill>
                <a:latin typeface="Helios"/>
                <a:ea typeface="Helios"/>
                <a:cs typeface="Helios"/>
                <a:sym typeface="Helios"/>
              </a:rPr>
              <a:t>PyTorch. PyTorch Documentation. Available at: https://pytorch.org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3413">
            <a:off x="9283310" y="-2113117"/>
            <a:ext cx="13265113" cy="13265113"/>
          </a:xfrm>
          <a:custGeom>
            <a:avLst/>
            <a:gdLst/>
            <a:ahLst/>
            <a:cxnLst/>
            <a:rect l="l" t="t" r="r" b="b"/>
            <a:pathLst>
              <a:path w="13265113" h="13265113">
                <a:moveTo>
                  <a:pt x="0" y="0"/>
                </a:moveTo>
                <a:lnTo>
                  <a:pt x="13265113" y="0"/>
                </a:lnTo>
                <a:lnTo>
                  <a:pt x="13265113" y="13265112"/>
                </a:lnTo>
                <a:lnTo>
                  <a:pt x="0" y="132651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67802" y="-695325"/>
            <a:ext cx="12417410" cy="11560608"/>
            <a:chOff x="0" y="0"/>
            <a:chExt cx="6350000" cy="5911850"/>
          </a:xfrm>
        </p:grpSpPr>
        <p:sp>
          <p:nvSpPr>
            <p:cNvPr id="4" name="Freeform 4"/>
            <p:cNvSpPr/>
            <p:nvPr/>
          </p:nvSpPr>
          <p:spPr>
            <a:xfrm>
              <a:off x="-68580" y="0"/>
              <a:ext cx="6417310" cy="5911850"/>
            </a:xfrm>
            <a:custGeom>
              <a:avLst/>
              <a:gdLst/>
              <a:ahLst/>
              <a:cxnLst/>
              <a:rect l="l" t="t" r="r" b="b"/>
              <a:pathLst>
                <a:path w="6417310" h="5911850">
                  <a:moveTo>
                    <a:pt x="1215390" y="402590"/>
                  </a:moveTo>
                  <a:lnTo>
                    <a:pt x="177800" y="2192020"/>
                  </a:lnTo>
                  <a:cubicBezTo>
                    <a:pt x="0" y="2498090"/>
                    <a:pt x="43180" y="2884170"/>
                    <a:pt x="283210" y="3144520"/>
                  </a:cubicBezTo>
                  <a:lnTo>
                    <a:pt x="2594610" y="5651500"/>
                  </a:lnTo>
                  <a:cubicBezTo>
                    <a:pt x="2747010" y="5817870"/>
                    <a:pt x="2962910" y="5911850"/>
                    <a:pt x="3187700" y="5911850"/>
                  </a:cubicBezTo>
                  <a:lnTo>
                    <a:pt x="5609590" y="5911850"/>
                  </a:lnTo>
                  <a:cubicBezTo>
                    <a:pt x="6055360" y="5911850"/>
                    <a:pt x="6417310" y="5549900"/>
                    <a:pt x="6417310" y="5104130"/>
                  </a:cubicBezTo>
                  <a:lnTo>
                    <a:pt x="6417310" y="1891030"/>
                  </a:lnTo>
                  <a:cubicBezTo>
                    <a:pt x="6417310" y="1724660"/>
                    <a:pt x="6366510" y="1562100"/>
                    <a:pt x="6269990" y="1426210"/>
                  </a:cubicBezTo>
                  <a:lnTo>
                    <a:pt x="5507990" y="342900"/>
                  </a:lnTo>
                  <a:cubicBezTo>
                    <a:pt x="5356860" y="128270"/>
                    <a:pt x="5110480" y="0"/>
                    <a:pt x="4847590" y="0"/>
                  </a:cubicBezTo>
                  <a:lnTo>
                    <a:pt x="1913890" y="0"/>
                  </a:lnTo>
                  <a:cubicBezTo>
                    <a:pt x="1625600" y="0"/>
                    <a:pt x="1358900" y="153670"/>
                    <a:pt x="1215390" y="402590"/>
                  </a:cubicBezTo>
                  <a:close/>
                </a:path>
              </a:pathLst>
            </a:custGeom>
            <a:blipFill>
              <a:blip r:embed="rId4">
                <a:alphaModFix amt="90000"/>
              </a:blip>
              <a:stretch>
                <a:fillRect l="-19842" r="-19842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42875" y="3913983"/>
            <a:ext cx="10159560" cy="1780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03"/>
              </a:lnSpc>
              <a:spcBef>
                <a:spcPct val="0"/>
              </a:spcBef>
            </a:pPr>
            <a:r>
              <a:rPr lang="en-US" sz="10145" b="1" u="sng">
                <a:solidFill>
                  <a:srgbClr val="000000"/>
                </a:solidFill>
                <a:latin typeface="Helios Bold"/>
                <a:ea typeface="Helios Bold"/>
                <a:cs typeface="Helios Bold"/>
                <a:sym typeface="Helios Bold"/>
              </a:rPr>
              <a:t>THANK YOU....!!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1128</Words>
  <Application>Microsoft Office PowerPoint</Application>
  <PresentationFormat>Custom</PresentationFormat>
  <Paragraphs>151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Klein Bold</vt:lpstr>
      <vt:lpstr>Arial</vt:lpstr>
      <vt:lpstr>Calibri</vt:lpstr>
      <vt:lpstr>Klein</vt:lpstr>
      <vt:lpstr>Times New Roman</vt:lpstr>
      <vt:lpstr>Helios Bold</vt:lpstr>
      <vt:lpstr>Helios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EDI_MSE_YOLO</dc:title>
  <cp:lastModifiedBy>Aditya Dhakane</cp:lastModifiedBy>
  <cp:revision>12</cp:revision>
  <dcterms:created xsi:type="dcterms:W3CDTF">2006-08-16T00:00:00Z</dcterms:created>
  <dcterms:modified xsi:type="dcterms:W3CDTF">2025-09-23T02:25:21Z</dcterms:modified>
  <dc:identifier>DAGzKdd0pFY</dc:identifier>
</cp:coreProperties>
</file>